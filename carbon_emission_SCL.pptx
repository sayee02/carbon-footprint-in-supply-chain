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7"/>
  </p:notesMasterIdLst>
  <p:sldIdLst>
    <p:sldId id="1300" r:id="rId5"/>
    <p:sldId id="1349" r:id="rId6"/>
    <p:sldId id="1291" r:id="rId7"/>
    <p:sldId id="1350" r:id="rId8"/>
    <p:sldId id="1351" r:id="rId9"/>
    <p:sldId id="1352" r:id="rId10"/>
    <p:sldId id="1357" r:id="rId11"/>
    <p:sldId id="1353" r:id="rId12"/>
    <p:sldId id="1354" r:id="rId13"/>
    <p:sldId id="1355" r:id="rId14"/>
    <p:sldId id="1356" r:id="rId15"/>
    <p:sldId id="1250" r:id="rId16"/>
  </p:sldIdLst>
  <p:sldSz cx="12192000" cy="6858000"/>
  <p:notesSz cx="6858000" cy="9144000"/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F"/>
    <a:srgbClr val="F9FFEB"/>
    <a:srgbClr val="EDFFC5"/>
    <a:srgbClr val="7FBA00"/>
    <a:srgbClr val="EBEEF9"/>
    <a:srgbClr val="213164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3E2E1-41EB-4A81-8F1A-7F1E80E0EB96}" v="1" dt="2025-11-17T14:21:28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1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2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ee bankhele" userId="181cb2fef780ca9a" providerId="LiveId" clId="{E5962213-71A0-4BF1-A6F5-4044EAABDA7A}"/>
    <pc:docChg chg="modSld">
      <pc:chgData name="sayee bankhele" userId="181cb2fef780ca9a" providerId="LiveId" clId="{E5962213-71A0-4BF1-A6F5-4044EAABDA7A}" dt="2025-11-17T14:22:47.523" v="30" actId="1076"/>
      <pc:docMkLst>
        <pc:docMk/>
      </pc:docMkLst>
      <pc:sldChg chg="modSp mod">
        <pc:chgData name="sayee bankhele" userId="181cb2fef780ca9a" providerId="LiveId" clId="{E5962213-71A0-4BF1-A6F5-4044EAABDA7A}" dt="2025-11-17T14:22:47.523" v="30" actId="1076"/>
        <pc:sldMkLst>
          <pc:docMk/>
          <pc:sldMk cId="2000950779" sldId="1300"/>
        </pc:sldMkLst>
        <pc:spChg chg="mod">
          <ac:chgData name="sayee bankhele" userId="181cb2fef780ca9a" providerId="LiveId" clId="{E5962213-71A0-4BF1-A6F5-4044EAABDA7A}" dt="2025-11-17T14:22:47.523" v="30" actId="1076"/>
          <ac:spMkLst>
            <pc:docMk/>
            <pc:sldMk cId="2000950779" sldId="1300"/>
            <ac:spMk id="18" creationId="{E395316D-1E70-9E4D-C82D-DC6493EC4C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Let's delve deeper into the exciting world of sustainability and AI.</a:t>
            </a:r>
            <a:endParaRPr lang="en-US"/>
          </a:p>
          <a:p>
            <a:r>
              <a:rPr lang="en-US"/>
              <a:t>In this chapter, we'll explore how artificial intelligence can be a powerful tool for addressing environmental challenges and promoting sustainable practices. We'll discuss specific applications of AI in various sectors and analyze its potential to drive positive change.</a:t>
            </a:r>
          </a:p>
          <a:p>
            <a:r>
              <a:rPr lang="en-US" b="1"/>
              <a:t>Get ready to discover the innovative ways AI is contributing to a more sustainable future!</a:t>
            </a:r>
            <a:endParaRPr lang="en-US"/>
          </a:p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9783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D97FCEE-C2A8-37D5-A996-49BB545B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975B8980-94AA-8A6F-430D-0494B7C17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Let's outline what you'll learn in this presentation.</a:t>
            </a:r>
            <a:endParaRPr lang="en-US"/>
          </a:p>
          <a:p>
            <a:r>
              <a:rPr lang="en-US"/>
              <a:t>By the end, you'll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Understand how AI helps solve problems like climate change, resource depletion, and biodiversity loss.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Identify key AI uses in energy efficiency, waste management, and climate 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Analyze AI's role in sustainable agriculture and cities.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Evaluate AI's use in environmental monitoring using satellites, real-time data, and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Apply AI strategies in logistics and transportation to make them more sustainable.</a:t>
            </a:r>
          </a:p>
          <a:p>
            <a:r>
              <a:rPr lang="en-US" b="1"/>
              <a:t>Get ready to discover how AI can help create a greener future!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A7D6731-161F-2215-BDD4-38D7B762C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4211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B634D27-F068-EBEB-8770-15B1970F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EC7E5E5-08B1-E327-1392-BDBF84524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962BD9A5-ADCC-1A80-1BEB-CABC569E0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7319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C7FEBF0-06E5-C2B8-032E-BD1140EC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1C6BB7A9-64CC-4552-CA05-10714EF8D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96E12A9-0FB9-1C33-EAD4-8BC34D67D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0100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912BB92-19C5-FEAF-8CF0-0A26FF15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D21BCEAF-EE14-3457-B94E-B4E055AD9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E33C037B-43A5-DBE4-60BB-7D8372DCD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613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05ABAFC-C9BD-AB1E-8A8A-9EDC5568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CC989CB-9A3F-2F71-382B-9645325FE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1EAE55A1-FB6B-6141-FCEA-50C1C0732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7441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4F84F44-6F11-41C0-2531-B2D84004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CFFEF418-B406-D0A7-8310-136EE4643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7A9698E-E051-C03D-505A-30B549F0D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060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2949AFF-78D6-50DA-B607-940763F2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7361DAE3-574F-2869-A475-53A418F0F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598F59E-E26E-B08C-63A5-3796B2189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4077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839BF32-23F1-0514-1672-5AE4AB5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EF06C08A-200A-0E8C-55D0-5D4BC07B5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29C00B7-3928-D803-DCB2-F342254D8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3277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8C18A-94E2-AE13-8B06-BA9F6BD6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8089E-5BFA-40F0-B876-ADFE03496B7F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892B4-0FB0-425D-7C43-06BB328A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29878-4D45-882F-621F-195E0CE4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122C-94FD-45B7-812A-8C690DBDD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53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8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51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19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42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8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2540B31-8123-24C6-B0F3-4444B51E9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9AA95F-56F4-3F03-5804-8F7C6AFCE0BB}"/>
              </a:ext>
            </a:extLst>
          </p:cNvPr>
          <p:cNvSpPr/>
          <p:nvPr/>
        </p:nvSpPr>
        <p:spPr>
          <a:xfrm>
            <a:off x="8687544" y="584200"/>
            <a:ext cx="211044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5316D-1E70-9E4D-C82D-DC6493EC4CED}"/>
              </a:ext>
            </a:extLst>
          </p:cNvPr>
          <p:cNvSpPr txBox="1"/>
          <p:nvPr/>
        </p:nvSpPr>
        <p:spPr>
          <a:xfrm>
            <a:off x="4510034" y="2252606"/>
            <a:ext cx="7280118" cy="810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 IN SUPPLY CHAIN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2A27540A-9E08-71C9-C49B-6AA04DE6EB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943" y="867733"/>
            <a:ext cx="1263157" cy="4108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C3452E-282B-E1CE-1049-3451E4122F16}"/>
              </a:ext>
            </a:extLst>
          </p:cNvPr>
          <p:cNvSpPr txBox="1"/>
          <p:nvPr/>
        </p:nvSpPr>
        <p:spPr>
          <a:xfrm>
            <a:off x="4760259" y="3494967"/>
            <a:ext cx="6347011" cy="23882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Leader : Sayee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Bankhele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1: Samiksha Kapse</a:t>
            </a:r>
          </a:p>
          <a:p>
            <a:r>
              <a:rPr lang="en-IN" sz="18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2: Ananya </a:t>
            </a:r>
            <a:r>
              <a:rPr lang="en-IN" sz="18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shahare</a:t>
            </a:r>
            <a:r>
              <a:rPr lang="en-IN" sz="18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Mentor Name: Mr. Sagar Yadav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Name – Dr. D.Y Patil School Of Science And Technology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95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82100C0-8C1F-4181-DD75-D87774F4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DF1CE7-F465-D81C-97B0-79E3F2480924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583006E0-F63C-4BA4-389D-C91A4075610B}"/>
              </a:ext>
            </a:extLst>
          </p:cNvPr>
          <p:cNvSpPr txBox="1">
            <a:spLocks noGrp="1"/>
          </p:cNvSpPr>
          <p:nvPr/>
        </p:nvSpPr>
        <p:spPr>
          <a:xfrm>
            <a:off x="407838" y="873305"/>
            <a:ext cx="5025142" cy="6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668EA-F609-4C8E-7E33-C8D4F3A3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65" y="1124611"/>
            <a:ext cx="4602826" cy="4613712"/>
          </a:xfrm>
          <a:prstGeom prst="rect">
            <a:avLst/>
          </a:prstGeom>
        </p:spPr>
      </p:pic>
      <p:sp>
        <p:nvSpPr>
          <p:cNvPr id="8" name="Google Shape;62;g5fab984687_2_0">
            <a:extLst>
              <a:ext uri="{FF2B5EF4-FFF2-40B4-BE49-F238E27FC236}">
                <a16:creationId xmlns:a16="http://schemas.microsoft.com/office/drawing/2014/main" id="{761FE11B-F08F-EA24-6ECA-6D0A1BF1E903}"/>
              </a:ext>
            </a:extLst>
          </p:cNvPr>
          <p:cNvSpPr txBox="1"/>
          <p:nvPr/>
        </p:nvSpPr>
        <p:spPr>
          <a:xfrm>
            <a:off x="407838" y="1715981"/>
            <a:ext cx="5369163" cy="318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– Introduction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Wow Factor in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Modelling/Block Diagram/Flow of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Result/outcomes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Perspective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266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02071" y="972537"/>
            <a:ext cx="11301671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significant carbon emissions produced by global supply chains, there is a need for an accurate, machine-learning–based tool that can precisely predict logistics-related emissions and support companies in making more sustainable and cost-efficient operational decisions.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5C893-2FDF-21FF-3B51-777D91501B7C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CFA96E3-C7EB-55DF-2AA8-2936B30A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EBBBA-5CF4-5202-786C-054FC76F51FF}"/>
              </a:ext>
            </a:extLst>
          </p:cNvPr>
          <p:cNvSpPr txBox="1"/>
          <p:nvPr/>
        </p:nvSpPr>
        <p:spPr>
          <a:xfrm>
            <a:off x="202071" y="972537"/>
            <a:ext cx="11390161" cy="27007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–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a Machine Learning pipeline to predict CO₂ emissions from shipment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includes: Distance, Weight, Cost, Transport Mode, Fuel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Target: CO₂ Emissions (continuous regression).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Approach: Preprocessing → Feature Engineering → Modeling → Evaluation..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D36B33-2DAC-4F13-4E60-E206B01FE04F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2ED5FB8-425A-4665-42F5-5CC706CC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B8291-8A2E-40AC-9C88-A70F47D7B60C}"/>
              </a:ext>
            </a:extLst>
          </p:cNvPr>
          <p:cNvSpPr txBox="1"/>
          <p:nvPr/>
        </p:nvSpPr>
        <p:spPr>
          <a:xfrm>
            <a:off x="202071" y="972537"/>
            <a:ext cx="11075529" cy="27191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endParaRPr lang="en-IN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companies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optimize routes and reduce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managers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balance cost vs environmental impact.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makers &amp; sustainability teams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track carbon footprint compliance.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Academics &amp; students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learn ML applications in sustainability.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FCDAF6-8CC4-501B-E7B6-453DC4924D09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34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3201705-0A2B-4BCF-297B-D9722E1C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5BFC9B-AE6E-0231-F153-9FA6A53336DE}"/>
              </a:ext>
            </a:extLst>
          </p:cNvPr>
          <p:cNvSpPr txBox="1"/>
          <p:nvPr/>
        </p:nvSpPr>
        <p:spPr>
          <a:xfrm>
            <a:off x="202071" y="972537"/>
            <a:ext cx="11380329" cy="27191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Wow Factors in Project</a:t>
            </a:r>
          </a:p>
          <a:p>
            <a:endParaRPr lang="en-IN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modeling: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(predict exact emissions) + Classification (flag high vs low emission shipments)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engineering: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business meaning (Fuel Efficiency, Cost Efficiency).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pipeline with reproducible train/test splits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aligns with green supply chain initiative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30159-1BB7-8E93-3ABC-73786A089387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32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83BA4A-F66E-17DF-DC34-B936258D6010}"/>
              </a:ext>
            </a:extLst>
          </p:cNvPr>
          <p:cNvSpPr txBox="1"/>
          <p:nvPr/>
        </p:nvSpPr>
        <p:spPr>
          <a:xfrm>
            <a:off x="722376" y="1335024"/>
            <a:ext cx="7095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of the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BFB6B9-3BD2-5EAC-466D-272FA10336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09"/>
          <a:stretch>
            <a:fillRect/>
          </a:stretch>
        </p:blipFill>
        <p:spPr>
          <a:xfrm>
            <a:off x="3493673" y="1955703"/>
            <a:ext cx="4324447" cy="490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83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DA83078-77BF-8732-F35D-B5E0418E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3A1D2-BA94-C28C-CC33-20F2A8CBF8E6}"/>
              </a:ext>
            </a:extLst>
          </p:cNvPr>
          <p:cNvSpPr txBox="1"/>
          <p:nvPr/>
        </p:nvSpPr>
        <p:spPr>
          <a:xfrm>
            <a:off x="231567" y="972537"/>
            <a:ext cx="4870785" cy="53860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Modelling/Block Diagram/Flow of Project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1. Read Dataset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-Supply Chain Dataset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2.  Preprocessing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-Clean missing values, Encode categorical, Drop </a:t>
            </a:r>
            <a:r>
              <a:rPr kumimoji="0" lang="en-IN" sz="160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Shipment_ID</a:t>
            </a:r>
            <a:endParaRPr kumimoji="0" lang="en-IN" sz="1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3.  Feature Engineering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</a:t>
            </a:r>
            <a:r>
              <a:rPr kumimoji="0" lang="en-IN" sz="160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High_Emission_Flag</a:t>
            </a: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</a:t>
            </a:r>
            <a:r>
              <a:rPr kumimoji="0" lang="en-IN" sz="160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Fuel_Efficiency</a:t>
            </a: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</a:t>
            </a:r>
            <a:r>
              <a:rPr kumimoji="0" lang="en-IN" sz="160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Cost_Efficiency</a:t>
            </a:r>
            <a:endParaRPr kumimoji="0" lang="en-IN" sz="1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4.  Feature Selection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-Retain meaningful features, Remove non‑informative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5.  Train/Test Split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-80% Training, 20% Testing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r>
              <a:rPr lang="en-IN" sz="2000" b="1" dirty="0">
                <a:solidFill>
                  <a:srgbClr val="213163"/>
                </a:solidFill>
              </a:rPr>
              <a:t>-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DAE0B2-C9ED-491C-8F68-0E6205CBB90D}"/>
              </a:ext>
            </a:extLst>
          </p:cNvPr>
          <p:cNvCxnSpPr/>
          <p:nvPr/>
        </p:nvCxnSpPr>
        <p:spPr>
          <a:xfrm>
            <a:off x="-78658" y="6743619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B2379B5-2BBC-DD9E-9E94-9164973BCF52}"/>
              </a:ext>
            </a:extLst>
          </p:cNvPr>
          <p:cNvSpPr txBox="1"/>
          <p:nvPr/>
        </p:nvSpPr>
        <p:spPr>
          <a:xfrm>
            <a:off x="6096000" y="1188945"/>
            <a:ext cx="4870785" cy="54476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6.  Model Definitions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-Linear Regression Pipeline (scaling), Random Forest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7.  Model Training &amp; Testing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-Fit models on training, Predict on test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8.  Results &amp; Evaluation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-R², MAE, RMSE, Compare models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9.  Insights &amp; Conclusion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-Environmental + Economic efficiency, Regression vs   Classification outcomes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10.  Future Perspective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-Advanced models, Dashboard deployment, Real‑world expansion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416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514D052-F397-BC36-1052-36D19CF5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5B80B1-3B59-EA2F-68D8-475020EC920F}"/>
              </a:ext>
            </a:extLst>
          </p:cNvPr>
          <p:cNvSpPr txBox="1"/>
          <p:nvPr/>
        </p:nvSpPr>
        <p:spPr>
          <a:xfrm>
            <a:off x="261065" y="972537"/>
            <a:ext cx="3131359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Result/Outcomes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baseline model, interpretable coefficients.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captured non‑linear patterns, higher accuracy.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insights: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⁠◦  Fuel Efficiency strongly correlated with emissions.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⁠◦  Cost Efficiency highlighted trade‑off between economics and environment.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prediction of CO₂ emissions with actionable insights</a:t>
            </a:r>
            <a:r>
              <a:rPr lang="en-US" sz="1600" dirty="0"/>
              <a:t>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83DCBC-7A8C-07A8-ECE3-2959C5777DBD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358AC75-8B78-37F9-E9C1-39D39CB8F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835" y="903767"/>
            <a:ext cx="3839076" cy="15699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EA0B06-38DB-BC99-EDE7-06FB74AA9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835" y="2713643"/>
            <a:ext cx="3839076" cy="30405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02FB5B4-76FC-A8B0-FFB4-693ACD37F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898904"/>
            <a:ext cx="3634240" cy="15748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F69348-03FF-D58D-5926-4F28D71BC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599" y="2536223"/>
            <a:ext cx="3634241" cy="15748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0892970-2166-2609-BD32-030E440B4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599" y="4173542"/>
            <a:ext cx="3634240" cy="158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5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2F31CEF-5515-4F5D-1100-281FEB2D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B0A38-E51F-FAB3-43A3-E6F66F53FEEB}"/>
              </a:ext>
            </a:extLst>
          </p:cNvPr>
          <p:cNvSpPr txBox="1"/>
          <p:nvPr/>
        </p:nvSpPr>
        <p:spPr>
          <a:xfrm>
            <a:off x="459913" y="1188846"/>
            <a:ext cx="11272174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scalable ML pipeline for carbon-footprint prediction using enhanced feature engineering, demonstrating both regression and classification approaches, with Random Forest outperforming Linear Regression in accuracy.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5A772F-AA2F-0824-304C-1925559E5831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26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D19869F-96B9-5203-AAF3-45AE6C4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D9D66-F842-8A54-E13C-54231FFCB3A9}"/>
              </a:ext>
            </a:extLst>
          </p:cNvPr>
          <p:cNvSpPr txBox="1"/>
          <p:nvPr/>
        </p:nvSpPr>
        <p:spPr>
          <a:xfrm>
            <a:off x="202071" y="972537"/>
            <a:ext cx="11380329" cy="30269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Perspective</a:t>
            </a:r>
          </a:p>
          <a:p>
            <a:endParaRPr lang="en-IN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with real‑world variables (vehicle type, weather, traffic).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advanced models (Gradient Boosting, Neural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Networks,Tensorflow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as a dashboard or API for real‑time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integration into corporate sustainability reporting systems.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75EF88-7E4D-D10C-498C-A7D20A3B78E2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288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4315206" y="32145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1366</Words>
  <Application>Microsoft Office PowerPoint</Application>
  <PresentationFormat>Widescreen</PresentationFormat>
  <Paragraphs>162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sayee bankhele</cp:lastModifiedBy>
  <cp:revision>4</cp:revision>
  <dcterms:modified xsi:type="dcterms:W3CDTF">2025-11-17T14:22:56Z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9933309E-0FFA-4A0C-99DC-6F95618B9D68</vt:lpwstr>
  </property>
  <property fmtid="{D5CDD505-2E9C-101B-9397-08002B2CF9AE}" pid="4" name="ArticulatePath">
    <vt:lpwstr>https://edunetfoundationorg-my.sharepoint.com/personal/kaisar_edunetfoundation_org/Documents/Beutified ppt/Microsoft Shell/Skills4Future/Temp</vt:lpwstr>
  </property>
</Properties>
</file>